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70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embeddedFontLst>
    <p:embeddedFont>
      <p:font typeface="Cambria Math" panose="02040503050406030204" pitchFamily="18" charset="0"/>
      <p:regular r:id="rId17"/>
    </p:embeddedFont>
    <p:embeddedFont>
      <p:font typeface="Urbanist" panose="020B0604020202020204" charset="0"/>
      <p:regular r:id="rId18"/>
      <p:bold r:id="rId19"/>
      <p:italic r:id="rId20"/>
      <p:boldItalic r:id="rId21"/>
    </p:embeddedFont>
    <p:embeddedFont>
      <p:font typeface="Urbanist Medium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598DEDB-D726-4C99-9715-E2FF8EF0A385}">
  <a:tblStyle styleId="{9598DEDB-D726-4C99-9715-E2FF8EF0A38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B0BB0CA9-BAEA-7B63-F408-B12372805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10BE0F41-B0A7-181A-3AF4-B56CF94E0F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917D368F-006D-A876-8B9B-61F0858D1F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20006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290524" y="2123182"/>
            <a:ext cx="7610951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Credit Limit </a:t>
            </a:r>
            <a:r>
              <a:rPr lang="en-US" sz="54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Automation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519362" y="3334642"/>
            <a:ext cx="7153275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Driving ROI and Frictionless Onboarding via Machine Learning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000500" y="4298453"/>
            <a:ext cx="41910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STRATEGIC EXECUTIVE BRIEFING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524500" y="1093801"/>
            <a:ext cx="1143000" cy="571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95275" y="1531951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 dirty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Business Challenge</a:t>
            </a:r>
            <a:endParaRPr dirty="0"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2713051"/>
            <a:ext cx="110490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Identifying Inefficiencies in Legacy Underwriting</a:t>
            </a:r>
            <a:endParaRPr dirty="0"/>
          </a:p>
        </p:txBody>
      </p:sp>
      <p:sp>
        <p:nvSpPr>
          <p:cNvPr id="2" name="Google Shape;95;p14">
            <a:extLst>
              <a:ext uri="{FF2B5EF4-FFF2-40B4-BE49-F238E27FC236}">
                <a16:creationId xmlns:a16="http://schemas.microsoft.com/office/drawing/2014/main" id="{F0A0CB8F-60F3-0508-BF87-40570D69FA7F}"/>
              </a:ext>
            </a:extLst>
          </p:cNvPr>
          <p:cNvSpPr txBox="1"/>
          <p:nvPr/>
        </p:nvSpPr>
        <p:spPr>
          <a:xfrm>
            <a:off x="571500" y="400561"/>
            <a:ext cx="11049000" cy="452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Automated Credit Limit Engine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E7613B-AEE6-6BEE-1EAC-730AB510BCBD}"/>
              </a:ext>
            </a:extLst>
          </p:cNvPr>
          <p:cNvSpPr txBox="1"/>
          <p:nvPr/>
        </p:nvSpPr>
        <p:spPr>
          <a:xfrm>
            <a:off x="985157" y="4272090"/>
            <a:ext cx="104666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85750" indent="-285750">
              <a:buClr>
                <a:schemeClr val="bg1"/>
              </a:buClr>
              <a:buFont typeface="Wingdings" panose="05000000000000000000" pitchFamily="2" charset="2"/>
              <a:buChar char="q"/>
              <a:defRPr>
                <a:solidFill>
                  <a:schemeClr val="bg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800" dirty="0"/>
              <a:t>Executive Interpretation: The model establishes a foundational starting credit limit of $1,945.20$ (the Y-intercept) and applies a risk-calibrated 1.51x multiplier (the slope) for every dollar the applicant earns.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5ACECFD0-E30E-8B6F-DF3D-E79431519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>
            <a:extLst>
              <a:ext uri="{FF2B5EF4-FFF2-40B4-BE49-F238E27FC236}">
                <a16:creationId xmlns:a16="http://schemas.microsoft.com/office/drawing/2014/main" id="{8076189F-6C77-4B25-8E95-6183EC268BA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0886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5;p14">
            <a:extLst>
              <a:ext uri="{FF2B5EF4-FFF2-40B4-BE49-F238E27FC236}">
                <a16:creationId xmlns:a16="http://schemas.microsoft.com/office/drawing/2014/main" id="{EC1E6609-2700-39DC-6D68-8AB03CE25568}"/>
              </a:ext>
            </a:extLst>
          </p:cNvPr>
          <p:cNvSpPr txBox="1"/>
          <p:nvPr/>
        </p:nvSpPr>
        <p:spPr>
          <a:xfrm>
            <a:off x="277585" y="-32660"/>
            <a:ext cx="2465614" cy="452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Problem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2BA932-0313-11CD-47AA-E77C31A4C0FE}"/>
              </a:ext>
            </a:extLst>
          </p:cNvPr>
          <p:cNvSpPr txBox="1"/>
          <p:nvPr/>
        </p:nvSpPr>
        <p:spPr>
          <a:xfrm>
            <a:off x="277585" y="706548"/>
            <a:ext cx="53721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Our current retail credit card underwriting process is bottlenecked by manual workflows, creating critical operational and revenue liabilities: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/>
                </a:solidFill>
              </a:rPr>
              <a:t>High Customer Churn:</a:t>
            </a:r>
            <a:r>
              <a:rPr lang="en-US" dirty="0">
                <a:solidFill>
                  <a:schemeClr val="bg1"/>
                </a:solidFill>
              </a:rPr>
              <a:t> Manual reviews take </a:t>
            </a:r>
            <a:r>
              <a:rPr lang="en-US" b="1" dirty="0">
                <a:solidFill>
                  <a:schemeClr val="bg1"/>
                </a:solidFill>
              </a:rPr>
              <a:t>24 to 48 hours</a:t>
            </a:r>
            <a:r>
              <a:rPr lang="en-US" dirty="0">
                <a:solidFill>
                  <a:schemeClr val="bg1"/>
                </a:solidFill>
              </a:rPr>
              <a:t>, resulting in an </a:t>
            </a:r>
            <a:r>
              <a:rPr lang="en-US" b="1" dirty="0">
                <a:solidFill>
                  <a:schemeClr val="bg1"/>
                </a:solidFill>
              </a:rPr>
              <a:t>18% abandonment rate</a:t>
            </a:r>
            <a:r>
              <a:rPr lang="en-US" dirty="0">
                <a:solidFill>
                  <a:schemeClr val="bg1"/>
                </a:solidFill>
              </a:rPr>
              <a:t> from digital applicants who abandon the pipeline for instant-approval competitors.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/>
                </a:solidFill>
              </a:rPr>
              <a:t>Inflated Operational Costs:</a:t>
            </a:r>
            <a:r>
              <a:rPr lang="en-US" dirty="0">
                <a:solidFill>
                  <a:schemeClr val="bg1"/>
                </a:solidFill>
              </a:rPr>
              <a:t> Underwriters spend over 60% of their time manually auditing low-risk, highly predictable applications, costing the bank an estimated </a:t>
            </a:r>
            <a:r>
              <a:rPr lang="en-US" b="1" dirty="0">
                <a:solidFill>
                  <a:schemeClr val="bg1"/>
                </a:solidFill>
              </a:rPr>
              <a:t>$450,000 annually</a:t>
            </a:r>
            <a:r>
              <a:rPr lang="en-US" dirty="0">
                <a:solidFill>
                  <a:schemeClr val="bg1"/>
                </a:solidFill>
              </a:rPr>
              <a:t> in unnecessary labor overhead.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/>
                </a:solidFill>
              </a:rPr>
              <a:t>Inconsistent Risk Exposure:</a:t>
            </a:r>
            <a:r>
              <a:rPr lang="en-US" dirty="0">
                <a:solidFill>
                  <a:schemeClr val="bg1"/>
                </a:solidFill>
              </a:rPr>
              <a:t> Human underwriting introduces subjective bias, causing erratic credit line allocations that either under-monetize affluent applicants or over-leverage high-risk profiles.</a:t>
            </a:r>
          </a:p>
        </p:txBody>
      </p:sp>
      <p:sp>
        <p:nvSpPr>
          <p:cNvPr id="5" name="Google Shape;95;p14">
            <a:extLst>
              <a:ext uri="{FF2B5EF4-FFF2-40B4-BE49-F238E27FC236}">
                <a16:creationId xmlns:a16="http://schemas.microsoft.com/office/drawing/2014/main" id="{97BC288F-C3A7-99FA-0202-61B83AD7AC23}"/>
              </a:ext>
            </a:extLst>
          </p:cNvPr>
          <p:cNvSpPr txBox="1"/>
          <p:nvPr/>
        </p:nvSpPr>
        <p:spPr>
          <a:xfrm>
            <a:off x="6449785" y="43540"/>
            <a:ext cx="2465614" cy="452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Solution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B2ECD8C-FB5E-0237-F788-AB59E68720FC}"/>
                  </a:ext>
                </a:extLst>
              </p:cNvPr>
              <p:cNvSpPr txBox="1"/>
              <p:nvPr/>
            </p:nvSpPr>
            <p:spPr>
              <a:xfrm>
                <a:off x="5815692" y="526993"/>
                <a:ext cx="6199414" cy="35344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285750" indent="-285750">
                  <a:buClr>
                    <a:schemeClr val="bg1"/>
                  </a:buClr>
                  <a:buFont typeface="Wingdings" panose="05000000000000000000" pitchFamily="2" charset="2"/>
                  <a:buChar char="q"/>
                  <a:defRPr>
                    <a:solidFill>
                      <a:schemeClr val="bg1"/>
                    </a:solidFill>
                  </a:defRPr>
                </a:lvl1pPr>
              </a:lstStyle>
              <a:p>
                <a:r>
                  <a:rPr lang="en-US" dirty="0"/>
                  <a:t>We are introducing an automated, real-time Credit Limit Allocation Engine embedded directly into our digital loan origination platform.</a:t>
                </a:r>
              </a:p>
              <a:p>
                <a:r>
                  <a:rPr lang="en-US" dirty="0"/>
                  <a:t>Instant Decisioning: Slashes application processing times from 2 days to under 1 second (200ms), removing onboarding friction and capturing high-intent customers instantly.</a:t>
                </a:r>
              </a:p>
              <a:p>
                <a:r>
                  <a:rPr lang="en-US" dirty="0"/>
                  <a:t>Resource Optimization: Automates 70% of the standard application queue, allowing human underwriters to shift focus exclusively to complex, high-net-worth portfolios.</a:t>
                </a:r>
              </a:p>
              <a:p>
                <a:r>
                  <a:rPr lang="en-US" dirty="0"/>
                  <a:t>Financial Impact: Projected to generate $2.05M in net business value and savings in Year 1 alone (585% ROI) through a combination of recovered revenue, labor savings, and minimized credit defaults.</a:t>
                </a:r>
              </a:p>
              <a:p>
                <a:r>
                  <a:rPr lang="en-US" dirty="0"/>
                  <a:t>Strict Guardrails: The system is protected by automated risk boundaries, including an automation ceiling cap </a:t>
                </a:r>
                <a14:m>
                  <m:oMath xmlns:m="http://schemas.openxmlformats.org/officeDocument/2006/math">
                    <m:r>
                      <a:rPr lang="en-US"/>
                      <m:t>18</m:t>
                    </m:r>
                    <m:r>
                      <a:rPr lang="en-US"/>
                      <m:t>,000),</m:t>
                    </m:r>
                    <m:r>
                      <a:rPr lang="en-US"/>
                      <m:t>𝑎𝑚𝑖𝑛𝑖𝑚𝑢𝑚𝑓𝑙𝑜𝑜𝑟</m:t>
                    </m:r>
                    <m:d>
                      <m:dPr>
                        <m:ctrlPr>
                          <a:rPr lang="en-US"/>
                        </m:ctrlPr>
                      </m:dPr>
                      <m:e>
                        <m:r>
                          <a:rPr lang="en-US"/>
                          <m:t>$2,000</m:t>
                        </m:r>
                      </m:e>
                    </m:d>
                    <m:r>
                      <a:rPr lang="en-US"/>
                      <m:t>,</m:t>
                    </m:r>
                    <m:r>
                      <a:rPr lang="en-US"/>
                      <m:t>𝑎𝑛𝑑𝑎𝑛𝑎𝑢𝑡𝑜𝑚𝑎𝑡𝑖𝑐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/>
                      <m:t>𝑟𝑜𝑢𝑡𝑖𝑛𝑔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/>
                      <m:t>𝑡𝑟𝑖𝑔𝑔𝑒𝑟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/>
                      <m:t>𝑡𝑜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/>
                      <m:t>h𝑢𝑚𝑎𝑛𝑢𝑛𝑑𝑒𝑟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/>
                      <m:t>𝑤𝑟𝑖𝑡𝑒𝑟𝑠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/>
                      <m:t>𝑓𝑜𝑟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/>
                      <m:t>h𝑖𝑔h</m:t>
                    </m:r>
                    <m:r>
                      <a:rPr lang="en-US"/>
                      <m:t>−</m:t>
                    </m:r>
                    <m:r>
                      <a:rPr lang="en-US"/>
                      <m:t>𝑖𝑛𝑐𝑜𝑚𝑒𝑜𝑢𝑡𝑙𝑖𝑒𝑟𝑠</m:t>
                    </m:r>
                    <m:r>
                      <a:rPr lang="en-US"/>
                      <m:t>($&gt;25,000</m:t>
                    </m:r>
                    <m:r>
                      <m:rPr>
                        <m:nor/>
                      </m:rPr>
                      <a:rPr lang="en-US"/>
                      <m:t>/</m:t>
                    </m:r>
                    <m:r>
                      <m:rPr>
                        <m:nor/>
                      </m:rPr>
                      <a:rPr lang="en-US"/>
                      <m:t>month</m:t>
                    </m:r>
                  </m:oMath>
                </a14:m>
                <a:r>
                  <a:rPr lang="en-US" dirty="0"/>
                  <a:t>).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B2ECD8C-FB5E-0237-F788-AB59E6872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5692" y="526993"/>
                <a:ext cx="6199414" cy="3534494"/>
              </a:xfrm>
              <a:prstGeom prst="rect">
                <a:avLst/>
              </a:prstGeom>
              <a:blipFill>
                <a:blip r:embed="rId4"/>
                <a:stretch>
                  <a:fillRect l="-98" t="-172" r="-197" b="-1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38DEBEA-6C72-2205-3C5F-4CC1D4215F75}"/>
              </a:ext>
            </a:extLst>
          </p:cNvPr>
          <p:cNvSpPr txBox="1"/>
          <p:nvPr/>
        </p:nvSpPr>
        <p:spPr>
          <a:xfrm>
            <a:off x="277585" y="4697340"/>
            <a:ext cx="619941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85750" indent="-285750">
              <a:buClr>
                <a:schemeClr val="bg1"/>
              </a:buClr>
              <a:buFont typeface="Wingdings" panose="05000000000000000000" pitchFamily="2" charset="2"/>
              <a:buChar char="q"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To ensure complete transparency, regulatory auditability, and speed, the engine is powered by a Simple Linear Regression model.</a:t>
            </a:r>
          </a:p>
          <a:p>
            <a:r>
              <a:rPr lang="en-US" dirty="0"/>
              <a:t>How it works: The algorithm analyzes historical data from active, good-standing customers to isolate the exact relationship between an applicant's verified monthly income ($X$) and their optimal, safe credit limit ($Y$). It charts a mathematical "Line of Best Fit" that cuts cleanly through data variances to establish an objective, standardized rule.</a:t>
            </a:r>
          </a:p>
        </p:txBody>
      </p:sp>
      <p:sp>
        <p:nvSpPr>
          <p:cNvPr id="9" name="Google Shape;95;p14">
            <a:extLst>
              <a:ext uri="{FF2B5EF4-FFF2-40B4-BE49-F238E27FC236}">
                <a16:creationId xmlns:a16="http://schemas.microsoft.com/office/drawing/2014/main" id="{400AD718-120C-1C66-CD76-22CE140EDEC6}"/>
              </a:ext>
            </a:extLst>
          </p:cNvPr>
          <p:cNvSpPr txBox="1"/>
          <p:nvPr/>
        </p:nvSpPr>
        <p:spPr>
          <a:xfrm>
            <a:off x="327931" y="3926982"/>
            <a:ext cx="5404757" cy="452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Algorithm &amp; Model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929ACE-04D9-E4CD-59EC-E53D430AF04E}"/>
              </a:ext>
            </a:extLst>
          </p:cNvPr>
          <p:cNvSpPr txBox="1"/>
          <p:nvPr/>
        </p:nvSpPr>
        <p:spPr>
          <a:xfrm>
            <a:off x="6530067" y="4943648"/>
            <a:ext cx="556532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85750" indent="-285750">
              <a:buClr>
                <a:schemeClr val="bg1"/>
              </a:buClr>
              <a:buFont typeface="Wingdings" panose="05000000000000000000" pitchFamily="2" charset="2"/>
              <a:buChar char="q"/>
              <a:defRPr>
                <a:solidFill>
                  <a:schemeClr val="bg1"/>
                </a:solidFill>
              </a:defRPr>
            </a:lvl1pPr>
          </a:lstStyle>
          <a:p>
            <a:r>
              <a:rPr lang="en-US" sz="1800" dirty="0"/>
              <a:t>The Production Formula:$$\text{Approved Credit Limit} = 1.51 \times (\text{Monthly Income}) + \$1,945.20$$</a:t>
            </a:r>
          </a:p>
        </p:txBody>
      </p:sp>
    </p:spTree>
    <p:extLst>
      <p:ext uri="{BB962C8B-B14F-4D97-AF65-F5344CB8AC3E}">
        <p14:creationId xmlns:p14="http://schemas.microsoft.com/office/powerpoint/2010/main" val="4242948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42244"/>
            <a:ext cx="3492549" cy="3373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242244"/>
            <a:ext cx="3492549" cy="3373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242244"/>
            <a:ext cx="3492549" cy="337363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962025" y="3375719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High Latency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962025" y="3909119"/>
            <a:ext cx="2711499" cy="117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Manual underwriting takes 24-48 hours, creating a massive bottleneck in customer acquisition.</a:t>
            </a:r>
            <a:endParaRPr dirty="0"/>
          </a:p>
        </p:txBody>
      </p:sp>
      <p:sp>
        <p:nvSpPr>
          <p:cNvPr id="106" name="Google Shape;106;p15"/>
          <p:cNvSpPr txBox="1"/>
          <p:nvPr/>
        </p:nvSpPr>
        <p:spPr>
          <a:xfrm>
            <a:off x="4740324" y="3375719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18% Abandonment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4740324" y="3909119"/>
            <a:ext cx="2711499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Applicants leave the pipeline due to wait times, benefiting faster digital competitors.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518624" y="3375719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$450k Excess Cost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8518624" y="3909119"/>
            <a:ext cx="2711499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Operational overhead from manual auditing of low-risk, standard applications.</a:t>
            </a:r>
            <a:endParaRPr/>
          </a:p>
        </p:txBody>
      </p:sp>
      <p:pic>
        <p:nvPicPr>
          <p:cNvPr id="110" name="Google Shape;11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2025" y="267086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40324" y="2670869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18624" y="2670869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0" i="0" u="none" strike="noStrike" cap="none" dirty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Legacy </a:t>
            </a:r>
            <a:r>
              <a:rPr lang="en-US" sz="4050" b="0" i="0" u="none" strike="noStrike" cap="none" dirty="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Friction</a:t>
            </a:r>
            <a:r>
              <a:rPr lang="en-US" sz="4050" b="0" i="0" u="none" strike="noStrike" cap="none" dirty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&amp; Operational Cost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55490"/>
            <a:ext cx="5238750" cy="3346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255490"/>
            <a:ext cx="5238750" cy="2840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3160365"/>
            <a:ext cx="4457700" cy="81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962025" y="2646015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Mathematics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962025" y="4189065"/>
            <a:ext cx="445770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Translating income data directly into revenue-optimized credit limits with absolute transparency.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6772275" y="2646015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Business Interpretation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6772275" y="3179415"/>
            <a:ext cx="44577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Y (Intercept):</a:t>
            </a: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$1,945 baseline limit for qualified entry-tier earners.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6772275" y="3975645"/>
            <a:ext cx="44577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Slope (m):</a:t>
            </a: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1.51x multiplier. For every $1,000 in monthly income, the limit increases by $1,510.</a:t>
            </a:r>
            <a:endParaRPr/>
          </a:p>
        </p:txBody>
      </p:sp>
      <p:pic>
        <p:nvPicPr>
          <p:cNvPr id="127" name="Google Shape;127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57300" y="3455640"/>
            <a:ext cx="38671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</a:t>
            </a:r>
            <a:r>
              <a:rPr lang="en-US" sz="405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Linear Regression</a:t>
            </a:r>
            <a:r>
              <a:rPr lang="en-US" sz="405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Solution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00925" y="1179314"/>
            <a:ext cx="42195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7400925" y="5656064"/>
            <a:ext cx="4219575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Validated against 1,000 historical rows with near-perfect correlation between income and approved safety limits.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571500" y="1179314"/>
            <a:ext cx="2466975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98%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571500" y="2512814"/>
            <a:ext cx="2466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R-SQUARED SCORE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3800475" y="1179314"/>
            <a:ext cx="302895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$782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3800475" y="2512814"/>
            <a:ext cx="30289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RMSE VARIANCE</a:t>
            </a:r>
            <a:endParaRPr/>
          </a:p>
        </p:txBody>
      </p:sp>
      <p:pic>
        <p:nvPicPr>
          <p:cNvPr id="140" name="Google Shape;14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410450" y="1188839"/>
            <a:ext cx="42005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571500" y="179189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Model </a:t>
            </a:r>
            <a:r>
              <a:rPr lang="en-US" sz="405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Accuracy</a:t>
            </a:r>
            <a:r>
              <a:rPr lang="en-US" sz="405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&amp; Predictive Power</a:t>
            </a: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7296F1C-35D9-0161-FDC0-1C21B5B4C4B7}"/>
                  </a:ext>
                </a:extLst>
              </p:cNvPr>
              <p:cNvSpPr txBox="1"/>
              <p:nvPr/>
            </p:nvSpPr>
            <p:spPr>
              <a:xfrm>
                <a:off x="789215" y="3846314"/>
                <a:ext cx="5768067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b="1" dirty="0">
                    <a:solidFill>
                      <a:schemeClr val="bg1"/>
                    </a:solidFill>
                    <a:effectLst/>
                    <a:latin typeface="Google Sans Text"/>
                  </a:rPr>
                  <a:t>Accuracy &amp; Compliance:</a:t>
                </a:r>
                <a:r>
                  <a:rPr lang="en-US" sz="1800" dirty="0">
                    <a:solidFill>
                      <a:schemeClr val="bg1"/>
                    </a:solidFill>
                  </a:rPr>
                  <a:t> </a:t>
                </a:r>
              </a:p>
              <a:p>
                <a:r>
                  <a:rPr lang="en-US" sz="1800" dirty="0" err="1">
                    <a:solidFill>
                      <a:schemeClr val="bg1"/>
                    </a:solidFill>
                  </a:rPr>
                  <a:t>Backtesting</a:t>
                </a:r>
                <a:r>
                  <a:rPr lang="en-US" sz="1800" dirty="0">
                    <a:solidFill>
                      <a:schemeClr val="bg1"/>
                    </a:solidFill>
                  </a:rPr>
                  <a:t> against active accounts yielded 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8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800" b="1" dirty="0">
                    <a:solidFill>
                      <a:schemeClr val="bg1"/>
                    </a:solidFill>
                    <a:effectLst/>
                    <a:latin typeface="Google Sans Text"/>
                  </a:rPr>
                  <a:t>score of 98%</a:t>
                </a:r>
                <a:r>
                  <a:rPr lang="en-US" sz="1800" dirty="0">
                    <a:solidFill>
                      <a:schemeClr val="bg1"/>
                    </a:solidFill>
                  </a:rPr>
                  <a:t>, meaning the formula almost perfectly mirrors safe historical lending parameters. Because the model uses simple linear math rather than an unexplainable "black box" algorithm, it is </a:t>
                </a:r>
                <a:r>
                  <a:rPr lang="en-US" sz="1800" b="1" dirty="0">
                    <a:solidFill>
                      <a:schemeClr val="bg1"/>
                    </a:solidFill>
                    <a:effectLst/>
                    <a:latin typeface="Google Sans Text"/>
                  </a:rPr>
                  <a:t>100% compliant</a:t>
                </a:r>
                <a:r>
                  <a:rPr lang="en-US" sz="1800" dirty="0">
                    <a:solidFill>
                      <a:schemeClr val="bg1"/>
                    </a:solidFill>
                  </a:rPr>
                  <a:t> with fair lending regulations and model risk governance standards.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7296F1C-35D9-0161-FDC0-1C21B5B4C4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215" y="3846314"/>
                <a:ext cx="5768067" cy="2308324"/>
              </a:xfrm>
              <a:prstGeom prst="rect">
                <a:avLst/>
              </a:prstGeom>
              <a:blipFill>
                <a:blip r:embed="rId6"/>
                <a:stretch>
                  <a:fillRect l="-845" t="-1583" r="-1162" b="-31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71625"/>
            <a:ext cx="11049000" cy="471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>
            <a:off x="3910012" y="4481512"/>
            <a:ext cx="4371975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585%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3910012" y="5815012"/>
            <a:ext cx="4371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FIRST YEAR RETURN ON INVESTMENT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Projected </a:t>
            </a:r>
            <a:r>
              <a:rPr lang="en-US" sz="405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First-Year ROI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47812"/>
            <a:ext cx="5248275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557337"/>
            <a:ext cx="5229225" cy="47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9"/>
          <p:cNvSpPr txBox="1"/>
          <p:nvPr/>
        </p:nvSpPr>
        <p:spPr>
          <a:xfrm>
            <a:off x="6867525" y="1700212"/>
            <a:ext cx="47529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Zero-PII Engine:</a:t>
            </a: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Isolated ML cluster processes tokenized IDs only.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6867525" y="2525017"/>
            <a:ext cx="47529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Sub-200ms Latency:</a:t>
            </a: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Real-time scoring using containerized FastAPI.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6867525" y="3349823"/>
            <a:ext cx="47529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Immutable Auditing:</a:t>
            </a: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Every prediction is logged for compliance.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6867525" y="4174628"/>
            <a:ext cx="47529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Scalable Microservices:</a:t>
            </a: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Deployed via Docker for elastic demand.</a:t>
            </a:r>
            <a:endParaRPr/>
          </a:p>
        </p:txBody>
      </p:sp>
      <p:pic>
        <p:nvPicPr>
          <p:cNvPr id="162" name="Google Shape;162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91275" y="174307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91275" y="2567880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91275" y="3392685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391275" y="4217491"/>
            <a:ext cx="33337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571500" y="547687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Cloud-Native </a:t>
            </a:r>
            <a:r>
              <a:rPr lang="en-US" sz="405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Architecture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/>
        </p:nvSpPr>
        <p:spPr>
          <a:xfrm>
            <a:off x="1047750" y="2866132"/>
            <a:ext cx="10572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Hard Floor ($2,000):</a:t>
            </a: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Minimum safety limit ensures product utility for all qualified earners.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1047750" y="3397597"/>
            <a:ext cx="10572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Automation Ceiling ($18,000):</a:t>
            </a: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Caps automated exposure to maintain risk appetite.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1047750" y="3929062"/>
            <a:ext cx="10572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Outlier Exception ($25k+):</a:t>
            </a: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High-income earners are automatically routed for senior human review.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1047750" y="4460527"/>
            <a:ext cx="10572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Monthly Drift Monitoring:</a:t>
            </a: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Automated alerts if mathematical constants diverge from market trends.</a:t>
            </a:r>
            <a:endParaRPr/>
          </a:p>
        </p:txBody>
      </p:sp>
      <p:pic>
        <p:nvPicPr>
          <p:cNvPr id="176" name="Google Shape;17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08994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440459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97192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503390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Risk </a:t>
            </a:r>
            <a:r>
              <a:rPr lang="en-US" sz="405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Guardrails</a:t>
            </a:r>
            <a:r>
              <a:rPr lang="en-US" sz="405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&amp; Governance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1"/>
          <p:cNvSpPr/>
          <p:nvPr/>
        </p:nvSpPr>
        <p:spPr>
          <a:xfrm>
            <a:off x="571500" y="3980557"/>
            <a:ext cx="110490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1672530" y="429101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510733" y="3504307"/>
            <a:ext cx="25521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Days 1-30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571500" y="3990082"/>
            <a:ext cx="2430660" cy="117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Shadow Mode:</a:t>
            </a: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Compare model outputs vs human decisions without affecting live customers.</a:t>
            </a:r>
            <a:endParaRPr/>
          </a:p>
        </p:txBody>
      </p:sp>
      <p:sp>
        <p:nvSpPr>
          <p:cNvPr id="190" name="Google Shape;190;p21"/>
          <p:cNvSpPr/>
          <p:nvPr/>
        </p:nvSpPr>
        <p:spPr>
          <a:xfrm>
            <a:off x="4545210" y="429101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3383413" y="3504307"/>
            <a:ext cx="25521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Days 31-60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3444180" y="3990082"/>
            <a:ext cx="2430660" cy="117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Pilot Phase:</a:t>
            </a: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Enable automation for mid-tier income applicants with active guardrails.</a:t>
            </a:r>
            <a:endParaRPr/>
          </a:p>
        </p:txBody>
      </p:sp>
      <p:sp>
        <p:nvSpPr>
          <p:cNvPr id="193" name="Google Shape;193;p21"/>
          <p:cNvSpPr/>
          <p:nvPr/>
        </p:nvSpPr>
        <p:spPr>
          <a:xfrm>
            <a:off x="7417891" y="429101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6256094" y="3504307"/>
            <a:ext cx="25521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Days 61-80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6316860" y="3990082"/>
            <a:ext cx="243066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Full Integration:</a:t>
            </a: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Complete LOS handshake and real-time decisioning rollout.</a:t>
            </a:r>
            <a:endParaRPr/>
          </a:p>
        </p:txBody>
      </p:sp>
      <p:sp>
        <p:nvSpPr>
          <p:cNvPr id="196" name="Google Shape;196;p21"/>
          <p:cNvSpPr/>
          <p:nvPr/>
        </p:nvSpPr>
        <p:spPr>
          <a:xfrm>
            <a:off x="10290571" y="429101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9128774" y="3504307"/>
            <a:ext cx="25521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Day 90+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9189541" y="3990082"/>
            <a:ext cx="243066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Optimization:</a:t>
            </a: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Post-release audit and revenue performance review.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90-Day </a:t>
            </a:r>
            <a:r>
              <a:rPr lang="en-US" sz="405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Rollout</a:t>
            </a:r>
            <a:r>
              <a:rPr lang="en-US" sz="405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Plan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5" name="Google Shape;205;p22"/>
          <p:cNvGraphicFramePr/>
          <p:nvPr/>
        </p:nvGraphicFramePr>
        <p:xfrm>
          <a:off x="571500" y="230505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{9598DEDB-D726-4C99-9715-E2FF8EF0A385}</a:tableStyleId>
              </a:tblPr>
              <a:tblGrid>
                <a:gridCol w="2837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5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Metric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Legacy (Manual)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Automated (ML)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Improvement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FF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Wait Time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24 - 48 Hours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&lt; 1 Second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-99.9%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Decision Consistency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Subjective / Bias-prone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Mathematical / Auditable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Absolute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Onboarding Fall-off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18% Abandonment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Projected &lt; 6%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-66%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Ops Handling per App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$45.00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$0.12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-99%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6" name="Google Shape;206;p22"/>
          <p:cNvSpPr/>
          <p:nvPr/>
        </p:nvSpPr>
        <p:spPr>
          <a:xfrm>
            <a:off x="571500" y="3595687"/>
            <a:ext cx="2837854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3409354" y="3595687"/>
            <a:ext cx="2927598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6336952" y="3595687"/>
            <a:ext cx="3207990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9544942" y="3595687"/>
            <a:ext cx="2075557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571500" y="4243387"/>
            <a:ext cx="2837854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3409354" y="4243387"/>
            <a:ext cx="2927598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6336952" y="4243387"/>
            <a:ext cx="3207990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9544942" y="4243387"/>
            <a:ext cx="2075557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571500" y="4891087"/>
            <a:ext cx="2837854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3409354" y="4891087"/>
            <a:ext cx="2927598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6336952" y="4891087"/>
            <a:ext cx="3207990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9544942" y="4891087"/>
            <a:ext cx="2075557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571500" y="5538787"/>
            <a:ext cx="2837854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3409354" y="5538787"/>
            <a:ext cx="2927598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6336952" y="5538787"/>
            <a:ext cx="3207990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9544942" y="5538787"/>
            <a:ext cx="2075557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Executive </a:t>
            </a:r>
            <a:r>
              <a:rPr lang="en-US" sz="405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KPI</a:t>
            </a:r>
            <a:r>
              <a:rPr lang="en-US" sz="405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Impact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 txBox="1"/>
          <p:nvPr/>
        </p:nvSpPr>
        <p:spPr>
          <a:xfrm>
            <a:off x="3690699" y="2110978"/>
            <a:ext cx="4810601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Future Scalability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1809750" y="3111103"/>
            <a:ext cx="8572500" cy="1493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This Linear Regression engine is just the foundation. The same architecture will be scaled to </a:t>
            </a:r>
            <a:r>
              <a:rPr lang="en-US" sz="21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Mortgage Prequalification</a:t>
            </a:r>
            <a:r>
              <a:rPr lang="en-US" sz="21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21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Dynamic Marketing Spend Optimization</a:t>
            </a:r>
            <a:r>
              <a:rPr lang="en-US" sz="21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and </a:t>
            </a:r>
            <a:r>
              <a:rPr lang="en-US" sz="21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Personalized Interest Rate Modeling</a:t>
            </a:r>
            <a:r>
              <a:rPr lang="en-US" sz="21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in Q1 2027.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81300" y="3860452"/>
            <a:ext cx="6629400" cy="153918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 txBox="1"/>
          <p:nvPr/>
        </p:nvSpPr>
        <p:spPr>
          <a:xfrm>
            <a:off x="295275" y="1458366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Questions &amp; </a:t>
            </a:r>
            <a:r>
              <a:rPr lang="en-US" sz="405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Next Steps</a:t>
            </a:r>
            <a:endParaRPr/>
          </a:p>
        </p:txBody>
      </p:sp>
      <p:sp>
        <p:nvSpPr>
          <p:cNvPr id="237" name="Google Shape;237;p24"/>
          <p:cNvSpPr txBox="1"/>
          <p:nvPr/>
        </p:nvSpPr>
        <p:spPr>
          <a:xfrm>
            <a:off x="3005137" y="2725191"/>
            <a:ext cx="6181725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Requested: Final Sign-off for Phase 1 (Shadow Mode)</a:t>
            </a:r>
            <a:endParaRPr/>
          </a:p>
        </p:txBody>
      </p:sp>
      <p:sp>
        <p:nvSpPr>
          <p:cNvPr id="238" name="Google Shape;238;p24"/>
          <p:cNvSpPr txBox="1"/>
          <p:nvPr/>
        </p:nvSpPr>
        <p:spPr>
          <a:xfrm>
            <a:off x="2781300" y="4460527"/>
            <a:ext cx="66294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Primary Contact:</a:t>
            </a: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Lead Data Scientist / ML Expert</a:t>
            </a:r>
            <a:endParaRPr/>
          </a:p>
        </p:txBody>
      </p:sp>
      <p:sp>
        <p:nvSpPr>
          <p:cNvPr id="239" name="Google Shape;239;p24"/>
          <p:cNvSpPr txBox="1"/>
          <p:nvPr/>
        </p:nvSpPr>
        <p:spPr>
          <a:xfrm>
            <a:off x="2781300" y="4963417"/>
            <a:ext cx="66294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Department:</a:t>
            </a: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Retail Risk &amp; AI Center of Excellence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5"/>
          <p:cNvSpPr/>
          <p:nvPr/>
        </p:nvSpPr>
        <p:spPr>
          <a:xfrm>
            <a:off x="571500" y="239077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571500" y="316230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5"/>
          <p:cNvSpPr/>
          <p:nvPr/>
        </p:nvSpPr>
        <p:spPr>
          <a:xfrm>
            <a:off x="571500" y="393382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5"/>
          <p:cNvSpPr/>
          <p:nvPr/>
        </p:nvSpPr>
        <p:spPr>
          <a:xfrm>
            <a:off x="571500" y="3152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5"/>
          <p:cNvSpPr/>
          <p:nvPr/>
        </p:nvSpPr>
        <p:spPr>
          <a:xfrm>
            <a:off x="571500" y="3152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5"/>
          <p:cNvSpPr/>
          <p:nvPr/>
        </p:nvSpPr>
        <p:spPr>
          <a:xfrm>
            <a:off x="571500" y="3924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5"/>
          <p:cNvSpPr/>
          <p:nvPr/>
        </p:nvSpPr>
        <p:spPr>
          <a:xfrm>
            <a:off x="571500" y="3924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5"/>
          <p:cNvSpPr/>
          <p:nvPr/>
        </p:nvSpPr>
        <p:spPr>
          <a:xfrm>
            <a:off x="571500" y="46958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5"/>
          <p:cNvSpPr/>
          <p:nvPr/>
        </p:nvSpPr>
        <p:spPr>
          <a:xfrm>
            <a:off x="571500" y="46958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336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5"/>
          <p:cNvSpPr txBox="1"/>
          <p:nvPr/>
        </p:nvSpPr>
        <p:spPr>
          <a:xfrm>
            <a:off x="1666875" y="2554634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https://assets.qlik.com/image/upload/w_2378/q_auto/qlik/glossary/dashboard-examples/seo-hero-financial-dashboards_ttulhs.png</a:t>
            </a:r>
            <a:endParaRPr/>
          </a:p>
        </p:txBody>
      </p:sp>
      <p:sp>
        <p:nvSpPr>
          <p:cNvPr id="256" name="Google Shape;256;p25"/>
          <p:cNvSpPr txBox="1"/>
          <p:nvPr/>
        </p:nvSpPr>
        <p:spPr>
          <a:xfrm>
            <a:off x="1666875" y="2775495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www.qlik.com</a:t>
            </a:r>
            <a:endParaRPr/>
          </a:p>
        </p:txBody>
      </p:sp>
      <p:pic>
        <p:nvPicPr>
          <p:cNvPr id="257" name="Google Shape;257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3051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5"/>
          <p:cNvSpPr txBox="1"/>
          <p:nvPr/>
        </p:nvSpPr>
        <p:spPr>
          <a:xfrm>
            <a:off x="1666875" y="3326159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https://cdn.cloudairy.com/template/1762767383847Q16%20(1).webp</a:t>
            </a:r>
            <a:endParaRPr/>
          </a:p>
        </p:txBody>
      </p:sp>
      <p:sp>
        <p:nvSpPr>
          <p:cNvPr id="259" name="Google Shape;259;p25"/>
          <p:cNvSpPr txBox="1"/>
          <p:nvPr/>
        </p:nvSpPr>
        <p:spPr>
          <a:xfrm>
            <a:off x="1666875" y="3547020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cloudairy.com</a:t>
            </a:r>
            <a:endParaRPr/>
          </a:p>
        </p:txBody>
      </p:sp>
      <p:pic>
        <p:nvPicPr>
          <p:cNvPr id="260" name="Google Shape;260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767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5"/>
          <p:cNvSpPr txBox="1"/>
          <p:nvPr/>
        </p:nvSpPr>
        <p:spPr>
          <a:xfrm>
            <a:off x="1666875" y="4097684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https://images.adsttc.com/media/images/6786/d72c/f6ca/3e01/88ac/1f82/newsletter/ziraat-bank-headquarters-kpf_1.jpg?1736890226</a:t>
            </a:r>
            <a:endParaRPr/>
          </a:p>
        </p:txBody>
      </p:sp>
      <p:sp>
        <p:nvSpPr>
          <p:cNvPr id="262" name="Google Shape;262;p25"/>
          <p:cNvSpPr txBox="1"/>
          <p:nvPr/>
        </p:nvSpPr>
        <p:spPr>
          <a:xfrm>
            <a:off x="1666875" y="4318545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www.archdaily.com</a:t>
            </a:r>
            <a:endParaRPr/>
          </a:p>
        </p:txBody>
      </p:sp>
      <p:pic>
        <p:nvPicPr>
          <p:cNvPr id="263" name="Google Shape;263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8482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5"/>
          <p:cNvSpPr txBox="1"/>
          <p:nvPr/>
        </p:nvSpPr>
        <p:spPr>
          <a:xfrm>
            <a:off x="1666875" y="4869209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https://miro.medium.com/1*h8n1DG3IuNDPQ9nxWXNAaw.png</a:t>
            </a:r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1666875" y="5090070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medium.com</a:t>
            </a:r>
            <a:endParaRPr/>
          </a:p>
        </p:txBody>
      </p:sp>
      <p:sp>
        <p:nvSpPr>
          <p:cNvPr id="266" name="Google Shape;266;p25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1041</Words>
  <Application>Microsoft Office PowerPoint</Application>
  <PresentationFormat>Widescreen</PresentationFormat>
  <Paragraphs>102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Urbanist</vt:lpstr>
      <vt:lpstr>Urbanist Medium</vt:lpstr>
      <vt:lpstr>Cambria Math</vt:lpstr>
      <vt:lpstr>Arial</vt:lpstr>
      <vt:lpstr>Google Sans Text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Suresh Baliarsingh</cp:lastModifiedBy>
  <cp:revision>2</cp:revision>
  <dcterms:modified xsi:type="dcterms:W3CDTF">2026-07-02T12:52:16Z</dcterms:modified>
</cp:coreProperties>
</file>